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9" r:id="rId11"/>
    <p:sldId id="268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5B0B0-B7D1-4A85-B573-1425262CA5BF}" v="903" dt="2025-12-02T10:20:04.650"/>
    <p1510:client id="{C8BC1361-E184-4C85-84EB-B83B1D38E4C1}" v="13" dt="2025-12-02T07:12:30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39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180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2105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104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05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652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939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51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481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291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9418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96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600" b="0" dirty="0">
                <a:latin typeface="Times New Roman"/>
                <a:cs typeface="Times New Roman"/>
              </a:rPr>
              <a:t>Лабораторная работа: </a:t>
            </a:r>
            <a:r>
              <a:rPr lang="ru-RU" sz="3600" b="0" dirty="0" err="1">
                <a:latin typeface="Times New Roman"/>
                <a:cs typeface="Times New Roman"/>
              </a:rPr>
              <a:t>Bayesian</a:t>
            </a:r>
            <a:r>
              <a:rPr lang="ru-RU" sz="3600" b="0" dirty="0">
                <a:latin typeface="Times New Roman"/>
                <a:cs typeface="Times New Roman"/>
              </a:rPr>
              <a:t> Networks на примере датасета [</a:t>
            </a:r>
            <a:r>
              <a:rPr lang="ru-RU" sz="3600" b="0" dirty="0" err="1">
                <a:latin typeface="Times New Roman"/>
                <a:ea typeface="+mj-lt"/>
                <a:cs typeface="+mj-lt"/>
              </a:rPr>
              <a:t>Zoo</a:t>
            </a:r>
            <a:r>
              <a:rPr lang="ru-RU" sz="3600" b="0" dirty="0">
                <a:latin typeface="Times New Roman"/>
                <a:ea typeface="+mj-lt"/>
                <a:cs typeface="+mj-lt"/>
              </a:rPr>
              <a:t> </a:t>
            </a:r>
            <a:r>
              <a:rPr lang="ru-RU" sz="3600" b="0" dirty="0" err="1">
                <a:latin typeface="Times New Roman"/>
                <a:ea typeface="+mj-lt"/>
                <a:cs typeface="+mj-lt"/>
              </a:rPr>
              <a:t>Animal</a:t>
            </a:r>
            <a:r>
              <a:rPr lang="ru-RU" sz="3600" b="0" dirty="0">
                <a:latin typeface="Times New Roman"/>
                <a:ea typeface="+mj-lt"/>
                <a:cs typeface="+mj-lt"/>
              </a:rPr>
              <a:t> </a:t>
            </a:r>
            <a:r>
              <a:rPr lang="ru-RU" sz="3600" b="0" dirty="0" err="1">
                <a:latin typeface="Times New Roman"/>
                <a:ea typeface="+mj-lt"/>
                <a:cs typeface="+mj-lt"/>
              </a:rPr>
              <a:t>Classification</a:t>
            </a:r>
            <a:r>
              <a:rPr lang="ru-RU" sz="3600" b="0" dirty="0">
                <a:latin typeface="Times New Roman"/>
                <a:cs typeface="Times New Roman"/>
              </a:rPr>
              <a:t>]</a:t>
            </a:r>
            <a:endParaRPr lang="ru-RU" sz="36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ru-RU" sz="3600" b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ru-RU" sz="36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1700" b="0" dirty="0">
                <a:latin typeface="Times New Roman"/>
                <a:cs typeface="Times New Roman"/>
              </a:rPr>
              <a:t>Выполнила: Жданович Елизавета</a:t>
            </a:r>
          </a:p>
          <a:p>
            <a:pPr>
              <a:lnSpc>
                <a:spcPct val="120000"/>
              </a:lnSpc>
            </a:pPr>
            <a:r>
              <a:rPr lang="ru-RU" sz="1700" b="0" dirty="0">
                <a:latin typeface="Times New Roman"/>
                <a:cs typeface="Times New Roman"/>
              </a:rPr>
              <a:t>Группа: М8О-307Б-23</a:t>
            </a:r>
          </a:p>
          <a:p>
            <a:pPr>
              <a:lnSpc>
                <a:spcPct val="120000"/>
              </a:lnSpc>
            </a:pPr>
            <a:r>
              <a:rPr lang="ru-RU" sz="1700" b="0" dirty="0">
                <a:latin typeface="Times New Roman"/>
                <a:cs typeface="Times New Roman"/>
              </a:rPr>
              <a:t>Дата: 01.12.25</a:t>
            </a:r>
          </a:p>
          <a:p>
            <a:pPr>
              <a:lnSpc>
                <a:spcPct val="120000"/>
              </a:lnSpc>
            </a:pPr>
            <a:r>
              <a:rPr lang="ru-RU" sz="1700" b="0" dirty="0">
                <a:latin typeface="Times New Roman"/>
                <a:cs typeface="Times New Roman"/>
              </a:rPr>
              <a:t>Предмет: Машинное обучение</a:t>
            </a:r>
          </a:p>
        </p:txBody>
      </p:sp>
      <p:pic>
        <p:nvPicPr>
          <p:cNvPr id="4" name="Рисунок 3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BF0A8E-E09F-A48F-1A49-526132929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87" r="-1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55BEB3-A1B9-DD04-959A-2BBE07B08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CADEF66A-252C-10A6-1ADE-BCD1E119973A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D2361E4-5FCA-5303-96C1-7DCE755E0303}"/>
              </a:ext>
            </a:extLst>
          </p:cNvPr>
          <p:cNvSpPr txBox="1"/>
          <p:nvPr/>
        </p:nvSpPr>
        <p:spPr>
          <a:xfrm>
            <a:off x="481852" y="168088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latin typeface="Times New Roman"/>
                <a:cs typeface="Times New Roman"/>
              </a:rPr>
              <a:t>Что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err="1">
                <a:latin typeface="Times New Roman"/>
                <a:cs typeface="Times New Roman"/>
              </a:rPr>
              <a:t>такое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err="1">
                <a:latin typeface="Times New Roman"/>
                <a:cs typeface="Times New Roman"/>
              </a:rPr>
              <a:t>байесовские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err="1">
                <a:latin typeface="Times New Roman"/>
                <a:cs typeface="Times New Roman"/>
              </a:rPr>
              <a:t>сети</a:t>
            </a:r>
            <a:r>
              <a:rPr lang="en-US" sz="3200" b="1" dirty="0">
                <a:latin typeface="Times New Roman"/>
                <a:cs typeface="Times New Roman"/>
              </a:rPr>
              <a:t>?</a:t>
            </a:r>
          </a:p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875F3-395D-9E60-D3B1-AC6AE5B59306}"/>
              </a:ext>
            </a:extLst>
          </p:cNvPr>
          <p:cNvSpPr txBox="1"/>
          <p:nvPr/>
        </p:nvSpPr>
        <p:spPr>
          <a:xfrm>
            <a:off x="481853" y="1714500"/>
            <a:ext cx="1157567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Bayesian Network — </a:t>
            </a:r>
            <a:r>
              <a:rPr lang="en-US" sz="2400" err="1">
                <a:latin typeface="Times New Roman"/>
                <a:cs typeface="Times New Roman"/>
              </a:rPr>
              <a:t>ориентированный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ациклический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граф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err="1">
                <a:latin typeface="Times New Roman"/>
                <a:cs typeface="Times New Roman"/>
              </a:rPr>
              <a:t>моделирующий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вероятностные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зависимости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между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переменными</a:t>
            </a:r>
            <a:endParaRPr lang="en-US" sz="2400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A1E8E9-C0A4-50B8-F471-60C703994E1D}"/>
                  </a:ext>
                </a:extLst>
              </p:cNvPr>
              <p:cNvSpPr txBox="1"/>
              <p:nvPr/>
            </p:nvSpPr>
            <p:spPr>
              <a:xfrm>
                <a:off x="347381" y="4706470"/>
                <a:ext cx="8370794" cy="198464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Font typeface=""/>
                  <a:buChar char="•"/>
                </a:pPr>
                <a:r>
                  <a:rPr lang="en-US"/>
                  <a:t>Узлы = случайные переменные</a:t>
                </a:r>
              </a:p>
              <a:p>
                <a:pPr>
                  <a:buFont typeface=""/>
                  <a:buChar char="•"/>
                </a:pPr>
                <a:r>
                  <a:rPr lang="en-US"/>
                  <a:t>Рёбра = условные зависимости</a:t>
                </a:r>
              </a:p>
              <a:p>
                <a:pPr>
                  <a:buFont typeface=""/>
                  <a:buChar char="•"/>
                </a:pPr>
                <a:r>
                  <a:rPr lang="en-US"/>
                  <a:t>CPT (Conditional Probability Table) — «мозг» сети</a:t>
                </a:r>
              </a:p>
              <a:p>
                <a:pPr>
                  <a:buFont typeface=""/>
                  <a:buChar char="•"/>
                </a:pPr>
                <a:r>
                  <a:rPr lang="en-US"/>
                  <a:t>Применение: медицина, диагностика, биология, ИИ</a:t>
                </a:r>
              </a:p>
              <a:p>
                <a:pPr>
                  <a:buFont typeface=""/>
                  <a:buChar char="•"/>
                </a:pPr>
                <a:r>
                  <a:rPr lang="en-US"/>
                  <a:t>Формула Байеса: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class</m:t>
                        </m:r>
                        <m:r>
                          <a:rPr lang="en-US" b="0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признаки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1">
                                <a:latin typeface="Cambria Math" panose="02040503050406030204" pitchFamily="18" charset="0"/>
                              </a:rPr>
                              <m:t>признаки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m:rPr>
                                <m:nor/>
                              </m:rPr>
                              <a:rPr lang="en-US" b="0" i="1">
                                <a:latin typeface="Cambria Math" panose="02040503050406030204" pitchFamily="18" charset="0"/>
                              </a:rPr>
                              <m:t>class</m:t>
                            </m:r>
                          </m:e>
                        </m:d>
                        <m:r>
                          <a:rPr lang="en-US" b="0" i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1">
                                <a:latin typeface="Cambria Math" panose="02040503050406030204" pitchFamily="18" charset="0"/>
                              </a:rPr>
                              <m:t>class</m:t>
                            </m:r>
                          </m:e>
                        </m:d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1">
                                <a:latin typeface="Cambria Math" panose="02040503050406030204" pitchFamily="18" charset="0"/>
                              </a:rPr>
                              <m:t>признаки</m:t>
                            </m:r>
                          </m:e>
                        </m:d>
                      </m:den>
                    </m:f>
                  </m:oMath>
                </a14:m>
                <a:endParaRPr lang="en-US" b="0"/>
              </a:p>
              <a:p>
                <a:pPr algn="ctr"/>
                <a:endParaRPr lang="ru-RU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A1E8E9-C0A4-50B8-F471-60C703994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81" y="4706470"/>
                <a:ext cx="8370794" cy="1984646"/>
              </a:xfrm>
              <a:prstGeom prst="rect">
                <a:avLst/>
              </a:prstGeom>
              <a:blipFill>
                <a:blip r:embed="rId3"/>
                <a:stretch>
                  <a:fillRect l="-655" t="-15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 descr="Изображение выглядит как велосипед, колес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3C7451-9742-A85F-223F-E2D89E915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385" y="2820800"/>
            <a:ext cx="57245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926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E3C96-5A79-C203-1587-49565F71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E01A923F-4996-1DCA-A6A9-8ED732727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7E712928-CDC6-CF17-7690-ED53660A1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40A8EEF4-1D78-BBF4-E101-DED50982A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FC2273-7C1D-F3D8-3A42-341E7B0BF6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FBD6BBA3-26F4-25BF-E026-DCC5C7AEA9D0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E3216E2-09A7-D8EB-0062-A28CCE1CB208}"/>
              </a:ext>
            </a:extLst>
          </p:cNvPr>
          <p:cNvSpPr txBox="1"/>
          <p:nvPr/>
        </p:nvSpPr>
        <p:spPr>
          <a:xfrm>
            <a:off x="481853" y="112059"/>
            <a:ext cx="745191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Датасет: Zoo Animal Classification</a:t>
            </a:r>
          </a:p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A4B4E-26A2-21A3-38EB-5F907E91B144}"/>
              </a:ext>
            </a:extLst>
          </p:cNvPr>
          <p:cNvSpPr txBox="1"/>
          <p:nvPr/>
        </p:nvSpPr>
        <p:spPr>
          <a:xfrm>
            <a:off x="268942" y="5221941"/>
            <a:ext cx="1127311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101 животное, 17 признаков</a:t>
            </a:r>
          </a:p>
          <a:p>
            <a:pPr>
              <a:buFont typeface=""/>
              <a:buChar char="•"/>
            </a:pPr>
            <a:r>
              <a:rPr lang="en-US" dirty="0" err="1"/>
              <a:t>Целевая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: </a:t>
            </a:r>
            <a:r>
              <a:rPr lang="en-US" b="1" dirty="0"/>
              <a:t>class</a:t>
            </a:r>
            <a:r>
              <a:rPr lang="en-US" dirty="0"/>
              <a:t> (1–7): 1 — </a:t>
            </a:r>
            <a:r>
              <a:rPr lang="en-US" dirty="0" err="1"/>
              <a:t>млекопитающие</a:t>
            </a:r>
            <a:r>
              <a:rPr lang="en-US" dirty="0"/>
              <a:t>, 2 — </a:t>
            </a:r>
            <a:r>
              <a:rPr lang="en-US" dirty="0" err="1"/>
              <a:t>птицы</a:t>
            </a:r>
            <a:r>
              <a:rPr lang="en-US" dirty="0"/>
              <a:t>, 3 — </a:t>
            </a:r>
            <a:r>
              <a:rPr lang="en-US" dirty="0" err="1"/>
              <a:t>рептилии</a:t>
            </a:r>
            <a:r>
              <a:rPr lang="en-US" dirty="0"/>
              <a:t>, 4 — </a:t>
            </a:r>
            <a:r>
              <a:rPr lang="en-US" dirty="0" err="1"/>
              <a:t>рыбы</a:t>
            </a:r>
            <a:r>
              <a:rPr lang="en-US" dirty="0"/>
              <a:t>, 5 — </a:t>
            </a:r>
            <a:r>
              <a:rPr lang="en-US" dirty="0" err="1"/>
              <a:t>амфибии</a:t>
            </a:r>
            <a:r>
              <a:rPr lang="en-US" dirty="0"/>
              <a:t>, 6 — </a:t>
            </a:r>
            <a:r>
              <a:rPr lang="en-US" dirty="0" err="1"/>
              <a:t>насекомые</a:t>
            </a:r>
            <a:r>
              <a:rPr lang="en-US" dirty="0"/>
              <a:t>, 7 — </a:t>
            </a:r>
            <a:r>
              <a:rPr lang="en-US" dirty="0" err="1"/>
              <a:t>моллюски</a:t>
            </a:r>
            <a:r>
              <a:rPr lang="en-US" dirty="0"/>
              <a:t> и </a:t>
            </a:r>
            <a:r>
              <a:rPr lang="en-US" dirty="0" err="1"/>
              <a:t>др</a:t>
            </a:r>
            <a:r>
              <a:rPr lang="en-US" dirty="0"/>
              <a:t>.</a:t>
            </a:r>
          </a:p>
          <a:p>
            <a:pPr>
              <a:buFont typeface=""/>
              <a:buChar char="•"/>
            </a:pP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b="1" dirty="0" err="1"/>
              <a:t>категориальные</a:t>
            </a:r>
            <a:r>
              <a:rPr lang="en-US" dirty="0"/>
              <a:t> (</a:t>
            </a:r>
            <a:r>
              <a:rPr lang="en-US" dirty="0" err="1"/>
              <a:t>бинарные</a:t>
            </a:r>
            <a:r>
              <a:rPr lang="en-US" dirty="0"/>
              <a:t> + legs)</a:t>
            </a:r>
          </a:p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368A87-2C75-9421-FD75-46C53CBC3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34" y="974633"/>
            <a:ext cx="4265520" cy="400106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7AA2BF-31CC-DB49-9265-8A6EB73B2A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632" r="71342" b="-649"/>
          <a:stretch>
            <a:fillRect/>
          </a:stretch>
        </p:blipFill>
        <p:spPr>
          <a:xfrm>
            <a:off x="5569324" y="1064770"/>
            <a:ext cx="4527182" cy="382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6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C27A3-D92B-B662-12B8-F29FF0A88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6DC691F4-39DA-B12D-8A6A-24882E11D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6E3815A5-B440-3CBC-B7E2-1A33E89FB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1448741D-2FE8-6AA9-5739-A4797CA14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292F5F-B656-1307-38C3-7E71E4C0A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D38DC787-C0A2-BC32-032F-C549818B3822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06F080-53F2-2AFD-12FB-C27CEFAA0435}"/>
              </a:ext>
            </a:extLst>
          </p:cNvPr>
          <p:cNvSpPr txBox="1"/>
          <p:nvPr/>
        </p:nvSpPr>
        <p:spPr>
          <a:xfrm>
            <a:off x="490603" y="213986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latin typeface="Times New Roman"/>
                <a:cs typeface="Times New Roman"/>
              </a:rPr>
              <a:t>Предобработка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err="1">
                <a:latin typeface="Times New Roman"/>
                <a:cs typeface="Times New Roman"/>
              </a:rPr>
              <a:t>данных</a:t>
            </a:r>
            <a:endParaRPr lang="en-US" sz="3200" b="1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C38FD-A692-B755-7C3E-AF88ED14B29E}"/>
              </a:ext>
            </a:extLst>
          </p:cNvPr>
          <p:cNvSpPr txBox="1"/>
          <p:nvPr/>
        </p:nvSpPr>
        <p:spPr>
          <a:xfrm>
            <a:off x="208768" y="6268233"/>
            <a:ext cx="1208761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Times New Roman"/>
                <a:cs typeface="Times New Roman"/>
              </a:rPr>
              <a:t>Вывод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  <a:r>
              <a:rPr lang="en-US" sz="2400" err="1">
                <a:latin typeface="Times New Roman"/>
                <a:cs typeface="Times New Roman"/>
              </a:rPr>
              <a:t>после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удаления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дубликатов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каждый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уникальный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набор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признаков</a:t>
            </a:r>
            <a:r>
              <a:rPr lang="en-US" sz="2400" dirty="0">
                <a:latin typeface="Times New Roman"/>
                <a:cs typeface="Times New Roman"/>
              </a:rPr>
              <a:t> → </a:t>
            </a:r>
            <a:r>
              <a:rPr lang="en-US" sz="2400" err="1">
                <a:latin typeface="Times New Roman"/>
                <a:cs typeface="Times New Roman"/>
              </a:rPr>
              <a:t>один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класс</a:t>
            </a:r>
            <a:endParaRPr lang="en-US" sz="2400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DC7AD5-4FBA-15C7-3A8B-A3A1D15B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91" y="1263041"/>
            <a:ext cx="5075030" cy="4331918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AEA7F7-8480-1DF5-1392-EE2108B602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1" b="24340"/>
          <a:stretch>
            <a:fillRect/>
          </a:stretch>
        </p:blipFill>
        <p:spPr>
          <a:xfrm>
            <a:off x="5571874" y="929014"/>
            <a:ext cx="6330074" cy="2956599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46D89F-4E9F-150E-F984-24CA459AE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082" y="3881865"/>
            <a:ext cx="5887235" cy="239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310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AD834-46D6-8359-FDE6-79FBA2EC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D5C5F806-C12C-9573-A2BA-3F3DD87CE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19E25EB-68F3-0BD2-E68C-9797FA2B6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178BBDDD-B418-61B5-F120-89F9008F2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CF9D9-7DB9-6DFB-2A3D-C1ACF3AF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8EAE19D0-1852-1C93-A9F3-ED74E1E06881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53CED43-C462-6989-4682-9A3C2E777CA0}"/>
              </a:ext>
            </a:extLst>
          </p:cNvPr>
          <p:cNvSpPr txBox="1"/>
          <p:nvPr/>
        </p:nvSpPr>
        <p:spPr>
          <a:xfrm>
            <a:off x="481853" y="224118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latin typeface="Times New Roman"/>
                <a:cs typeface="Times New Roman"/>
              </a:rPr>
              <a:t>Построение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err="1">
                <a:latin typeface="Times New Roman"/>
                <a:cs typeface="Times New Roman"/>
              </a:rPr>
              <a:t>структуры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err="1">
                <a:latin typeface="Times New Roman"/>
                <a:cs typeface="Times New Roman"/>
              </a:rPr>
              <a:t>сети</a:t>
            </a:r>
            <a:endParaRPr lang="en-US" sz="3200" b="1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025D88-C72C-4842-5B7D-89BD65EA8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94" y="1086971"/>
            <a:ext cx="4750213" cy="5356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24419B-DCD6-5582-6A04-87872AC78886}"/>
              </a:ext>
            </a:extLst>
          </p:cNvPr>
          <p:cNvSpPr txBox="1"/>
          <p:nvPr/>
        </p:nvSpPr>
        <p:spPr>
          <a:xfrm>
            <a:off x="5614147" y="1086971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Метод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построения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структуры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: </a:t>
            </a:r>
            <a:r>
              <a:rPr lang="en-US" b="1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Мануальный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(</a:t>
            </a:r>
            <a:r>
              <a:rPr lang="en-US" b="1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Экспертный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)</a:t>
            </a:r>
            <a:br>
              <a:rPr lang="en-US" dirty="0">
                <a:latin typeface="Times New Roman"/>
              </a:rPr>
            </a:b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данном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коде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используется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ручной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(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экспертный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)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подход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к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определению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структуры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Байесовской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сети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.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Все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связи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заданы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явно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на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основе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логики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предметной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области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(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зоологической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классификации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), а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не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найдены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алгоритмически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(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например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, с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помощью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HillClimbSearch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).</a:t>
            </a:r>
            <a:endParaRPr lang="en-US" dirty="0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3B5C0-2A6A-AB24-1DB5-405232319CAC}"/>
              </a:ext>
            </a:extLst>
          </p:cNvPr>
          <p:cNvSpPr txBox="1"/>
          <p:nvPr/>
        </p:nvSpPr>
        <p:spPr>
          <a:xfrm>
            <a:off x="5614147" y="3395382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Примеры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ребёр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(edges) и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узлов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(nodes)</a:t>
            </a:r>
          </a:p>
          <a:p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1.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Узлы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(Nodes):</a:t>
            </a:r>
          </a:p>
          <a:p>
            <a:pPr marL="228600" indent="-228600">
              <a:buFont typeface="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class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—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целевой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узел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представляющий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таксономический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класс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животного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например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млекопитающее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птица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рыба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и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т.д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.).</a:t>
            </a:r>
          </a:p>
          <a:p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2.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Рёбра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(Edges):</a:t>
            </a:r>
            <a:br>
              <a:rPr lang="en-US" dirty="0">
                <a:latin typeface="quote-cjk-patch"/>
                <a:ea typeface="quote-cjk-patch"/>
                <a:cs typeface="quote-cjk-patch"/>
              </a:rPr>
            </a:b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Заданы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направленные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связи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от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каждого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признака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к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узлу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class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что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отражает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гипотезу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 "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Все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наблюдаемые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физиологические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и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поведенческие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признаки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зависят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от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латентной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скрытой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)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переменной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—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класса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животного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".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5213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3C6C0-9DA1-B616-AF71-6BA137F73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7D728074-47E6-91A0-3320-ABE8C0435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445EB606-1F9A-5275-60F0-C93126798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 dirty="0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1C342FF4-D9CE-8223-F3B0-AAADCD043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2238F1-5249-C679-56D3-1FA586025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AB8A1CB7-5F0B-F8E3-B269-96B7A0CA021D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ABE3B2-71BD-0294-46E9-0974084B4F88}"/>
              </a:ext>
            </a:extLst>
          </p:cNvPr>
          <p:cNvSpPr txBox="1"/>
          <p:nvPr/>
        </p:nvSpPr>
        <p:spPr>
          <a:xfrm>
            <a:off x="486104" y="231730"/>
            <a:ext cx="526252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Оценка параметров</a:t>
            </a:r>
          </a:p>
        </p:txBody>
      </p:sp>
      <p:pic>
        <p:nvPicPr>
          <p:cNvPr id="5" name="Рисунок 4" descr="Изображение выглядит как текст, меню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865B83-D36A-0775-2C91-7CBDEF2DB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935" y="1544170"/>
            <a:ext cx="4218454" cy="467733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437586-3819-A19B-CA20-0A729839C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17" y="1088651"/>
            <a:ext cx="7134225" cy="3448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66FFCE-9614-0BC2-D64F-38E41058A23E}"/>
              </a:ext>
            </a:extLst>
          </p:cNvPr>
          <p:cNvSpPr txBox="1"/>
          <p:nvPr/>
        </p:nvSpPr>
        <p:spPr>
          <a:xfrm>
            <a:off x="100854" y="4538383"/>
            <a:ext cx="76199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Оценка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параметров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с Bayesian </a:t>
            </a:r>
            <a:r>
              <a:rPr lang="en-US" b="1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сглаживанием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</a:t>
            </a:r>
            <a:r>
              <a:rPr lang="en-US" b="1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BDeu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prior)</a:t>
            </a:r>
            <a:endParaRPr lang="ru-RU"/>
          </a:p>
          <a:p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Проблема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Мало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данных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после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удаления</a:t>
            </a:r>
            <a:r>
              <a:rPr lang="en-US" b="1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дубликатов</a:t>
            </a:r>
            <a:endParaRPr lang="en-US" b="1">
              <a:solidFill>
                <a:srgbClr val="0F1115"/>
              </a:solidFill>
              <a:latin typeface="quote-cjk-patch"/>
              <a:ea typeface="quote-cjk-patch"/>
              <a:cs typeface="quote-cjk-patch"/>
            </a:endParaRPr>
          </a:p>
          <a:p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После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очистки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данных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осталось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недостаточно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примеров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для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надёжной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оценки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условных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вероятностей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методом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максимального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правдоподобия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</a:t>
            </a:r>
            <a:r>
              <a:rPr lang="en-US" dirty="0">
                <a:solidFill>
                  <a:srgbClr val="0F1115"/>
                </a:solidFill>
                <a:latin typeface="quote-cjk-patch"/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b="1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Решение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К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каждому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сочетанию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родительских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переменных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добавила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10 "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воображаемых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"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животных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распределённых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равномерно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по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всем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классам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+mn-lt"/>
                <a:cs typeface="+mn-lt"/>
              </a:rPr>
              <a:t>.</a:t>
            </a:r>
            <a:endParaRPr lang="en-US" dirty="0">
              <a:solidFill>
                <a:srgbClr val="0F1115"/>
              </a:solidFill>
              <a:latin typeface="Times New Roman"/>
              <a:cs typeface="Times New Roman"/>
            </a:endParaRPr>
          </a:p>
          <a:p>
            <a:endParaRPr lang="en-US" dirty="0">
              <a:solidFill>
                <a:srgbClr val="0F1115"/>
              </a:solidFill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115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A9B4E-4695-4E54-6C76-C1BD8815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B9DDAD34-8C26-B71A-7820-97B6860BF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A92C536C-9146-0129-D373-93369ACDF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43D3470F-C59E-3DE5-F720-8BE3C07B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45DA88-5AC4-66B1-DA43-F80E0A00C2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BEF34D10-2A3E-5A6F-342E-094080531067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CE2764E-EDE0-FD6B-B59C-AC1BC52BDF7F}"/>
              </a:ext>
            </a:extLst>
          </p:cNvPr>
          <p:cNvSpPr txBox="1"/>
          <p:nvPr/>
        </p:nvSpPr>
        <p:spPr>
          <a:xfrm>
            <a:off x="486953" y="330432"/>
            <a:ext cx="42966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Просмотр CPT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1AF864-7D0B-85C4-ECD8-695DF827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81" y="1204632"/>
            <a:ext cx="4310343" cy="482973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314CF8-2E67-6CC6-9B9C-08CE32426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58" y="1711699"/>
            <a:ext cx="6180045" cy="343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928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57C7F-062E-1311-0292-DE7A31D2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BDE4B885-5EE7-8E70-D477-12E08A758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E77E77A-DA0A-F420-F1AA-4DFD9EEF0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1A720675-8A4E-1EAE-9007-38578C545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F71396-A537-63CC-2E47-8C2EB68BB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2B1E440D-B241-EE47-A92E-5B47457E4224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6B0E0B2-D365-705D-3076-38FAF3EF2B14}"/>
              </a:ext>
            </a:extLst>
          </p:cNvPr>
          <p:cNvSpPr txBox="1"/>
          <p:nvPr/>
        </p:nvSpPr>
        <p:spPr>
          <a:xfrm>
            <a:off x="481853" y="168088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latin typeface="Times New Roman"/>
                <a:cs typeface="Times New Roman"/>
              </a:rPr>
              <a:t>Визуализация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err="1">
                <a:latin typeface="Times New Roman"/>
                <a:cs typeface="Times New Roman"/>
              </a:rPr>
              <a:t>сети</a:t>
            </a:r>
            <a:endParaRPr lang="en-US" sz="3200" b="1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диаграмма, линия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E46381-C682-4799-5872-C65F4B3E6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4" y="1030941"/>
            <a:ext cx="5860472" cy="4740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5A6919-5FFC-0DF1-8A14-9010B58C3049}"/>
              </a:ext>
            </a:extLst>
          </p:cNvPr>
          <p:cNvSpPr txBox="1"/>
          <p:nvPr/>
        </p:nvSpPr>
        <p:spPr>
          <a:xfrm>
            <a:off x="212912" y="5625353"/>
            <a:ext cx="794497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latin typeface="Times New Roman"/>
                <a:cs typeface="Times New Roman"/>
              </a:rPr>
              <a:t>Видны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биологически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осмысленные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зависимости</a:t>
            </a:r>
            <a:r>
              <a:rPr lang="en-US" sz="2800" dirty="0">
                <a:latin typeface="Times New Roman"/>
                <a:cs typeface="Times New Roman"/>
              </a:rPr>
              <a:t>: </a:t>
            </a:r>
            <a:r>
              <a:rPr lang="en-US" sz="2800" dirty="0" err="1">
                <a:latin typeface="Times New Roman"/>
                <a:cs typeface="Times New Roman"/>
              </a:rPr>
              <a:t>молоко</a:t>
            </a:r>
            <a:r>
              <a:rPr lang="en-US" sz="2800" dirty="0">
                <a:latin typeface="Times New Roman"/>
                <a:cs typeface="Times New Roman"/>
              </a:rPr>
              <a:t> и </a:t>
            </a:r>
            <a:r>
              <a:rPr lang="en-US" sz="2800" dirty="0" err="1">
                <a:latin typeface="Times New Roman"/>
                <a:cs typeface="Times New Roman"/>
              </a:rPr>
              <a:t>перья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напрямую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определяют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класс</a:t>
            </a:r>
            <a:r>
              <a:rPr lang="en-US" sz="2800" dirty="0">
                <a:latin typeface="Times New Roman"/>
                <a:cs typeface="Times New Roman"/>
              </a:rPr>
              <a:t>.</a:t>
            </a:r>
          </a:p>
          <a:p>
            <a:pPr algn="ctr"/>
            <a:endParaRPr lang="ru-RU"/>
          </a:p>
        </p:txBody>
      </p:sp>
      <p:pic>
        <p:nvPicPr>
          <p:cNvPr id="8" name="Рисунок 7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658B18-2489-3371-0B3C-2420D4C1F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314" y="1288677"/>
            <a:ext cx="5144461" cy="422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775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1EBD8-FCE8-9DF3-5512-30AA6AE9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EC908F35-86E1-8C7F-D167-A689059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54E21D0-AEA7-CBAD-5908-807D1B2EE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982119F1-4D4B-3805-3E05-ABF54331A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584208-5664-6E32-4B31-4D99FCB3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DD6071BA-C0FA-7321-F717-77C381DC34AD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B504A36-7D9F-771A-5953-C9006016B529}"/>
              </a:ext>
            </a:extLst>
          </p:cNvPr>
          <p:cNvSpPr txBox="1"/>
          <p:nvPr/>
        </p:nvSpPr>
        <p:spPr>
          <a:xfrm>
            <a:off x="490604" y="109603"/>
            <a:ext cx="977029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Логический</a:t>
            </a:r>
            <a:r>
              <a:rPr lang="en-US" sz="3200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3200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вывод</a:t>
            </a:r>
            <a:r>
              <a:rPr lang="en-US" sz="3200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(Inference) в </a:t>
            </a:r>
            <a:r>
              <a:rPr lang="en-US" sz="3200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Байесовской</a:t>
            </a:r>
            <a:r>
              <a:rPr lang="en-US" sz="3200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3200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сети</a:t>
            </a:r>
            <a:endParaRPr lang="en-US" sz="3200" b="1">
              <a:solidFill>
                <a:srgbClr val="0F1115"/>
              </a:solidFill>
              <a:latin typeface="Times New Roman"/>
              <a:ea typeface="quote-cjk-patch"/>
              <a:cs typeface="quote-cjk-patch"/>
            </a:endParaRPr>
          </a:p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7E7AA-4649-AFC5-5D0F-8DB878ACA529}"/>
              </a:ext>
            </a:extLst>
          </p:cNvPr>
          <p:cNvSpPr txBox="1"/>
          <p:nvPr/>
        </p:nvSpPr>
        <p:spPr>
          <a:xfrm>
            <a:off x="354904" y="1205630"/>
            <a:ext cx="4509370" cy="5160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Типы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запросов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с Evidence (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наблюдаемыми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фактами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)</a:t>
            </a:r>
          </a:p>
          <a:p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1.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Вероятностный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запрос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–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распределение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вероятностей</a:t>
            </a:r>
            <a:endParaRPr lang="en-US" b="1">
              <a:solidFill>
                <a:srgbClr val="0F1115"/>
              </a:solidFill>
              <a:latin typeface="Times New Roman"/>
              <a:ea typeface="quote-cjk-patch"/>
              <a:cs typeface="quote-cjk-patch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rgbClr val="0F1115"/>
                </a:solidFill>
                <a:latin typeface="Times New Roman"/>
                <a:ea typeface="Menlo"/>
                <a:cs typeface="Menlo"/>
              </a:rPr>
              <a:t>python</a:t>
            </a:r>
          </a:p>
          <a:p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query </a:t>
            </a:r>
            <a:r>
              <a:rPr lang="en-US" dirty="0">
                <a:solidFill>
                  <a:srgbClr val="4078F2"/>
                </a:solidFill>
                <a:latin typeface="Times New Roman"/>
                <a:ea typeface="quote-cjk-patch"/>
                <a:cs typeface="quote-cjk-patch"/>
              </a:rPr>
              <a:t>=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infer</a:t>
            </a:r>
            <a:r>
              <a:rPr lang="en-US" err="1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.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query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(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variables</a:t>
            </a:r>
            <a:r>
              <a:rPr lang="en-US" dirty="0">
                <a:solidFill>
                  <a:srgbClr val="4078F2"/>
                </a:solidFill>
                <a:latin typeface="Times New Roman"/>
                <a:ea typeface="quote-cjk-patch"/>
                <a:cs typeface="quote-cjk-patch"/>
              </a:rPr>
              <a:t>=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[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</a:t>
            </a:r>
            <a:r>
              <a:rPr lang="en-US" err="1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class'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],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evidence</a:t>
            </a:r>
            <a:r>
              <a:rPr lang="en-US" dirty="0">
                <a:solidFill>
                  <a:srgbClr val="4078F2"/>
                </a:solidFill>
                <a:latin typeface="Times New Roman"/>
                <a:ea typeface="quote-cjk-patch"/>
                <a:cs typeface="quote-cjk-patch"/>
              </a:rPr>
              <a:t>=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{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'milk'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: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'1'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})</a:t>
            </a:r>
          </a:p>
          <a:p>
            <a:pPr marL="228600" indent="-228600">
              <a:buFont typeface=""/>
              <a:buChar char="•"/>
            </a:pP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Вычисляет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P(class | milk=1) –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вероятность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классов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при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условии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"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есть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молоко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"</a:t>
            </a:r>
          </a:p>
          <a:p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2. MAP-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запрос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–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наиболее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вероятная</a:t>
            </a:r>
            <a:r>
              <a:rPr lang="en-US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гипотеза</a:t>
            </a:r>
            <a:endParaRPr lang="en-US" b="1">
              <a:solidFill>
                <a:srgbClr val="0F1115"/>
              </a:solidFill>
              <a:latin typeface="Times New Roman"/>
              <a:ea typeface="quote-cjk-patch"/>
              <a:cs typeface="quote-cjk-patch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rgbClr val="0F1115"/>
                </a:solidFill>
                <a:latin typeface="Times New Roman"/>
                <a:ea typeface="Menlo"/>
                <a:cs typeface="Menlo"/>
              </a:rPr>
              <a:t>python</a:t>
            </a:r>
          </a:p>
          <a:p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map_query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4078F2"/>
                </a:solidFill>
                <a:latin typeface="Times New Roman"/>
                <a:ea typeface="quote-cjk-patch"/>
                <a:cs typeface="quote-cjk-patch"/>
              </a:rPr>
              <a:t>=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infer</a:t>
            </a:r>
            <a:r>
              <a:rPr lang="en-US" err="1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.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map_query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(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variables</a:t>
            </a:r>
            <a:r>
              <a:rPr lang="en-US" dirty="0">
                <a:solidFill>
                  <a:srgbClr val="4078F2"/>
                </a:solidFill>
                <a:latin typeface="Times New Roman"/>
                <a:ea typeface="quote-cjk-patch"/>
                <a:cs typeface="quote-cjk-patch"/>
              </a:rPr>
              <a:t>=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[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</a:t>
            </a:r>
            <a:r>
              <a:rPr lang="en-US" err="1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class'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],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evidence</a:t>
            </a:r>
            <a:r>
              <a:rPr lang="en-US" dirty="0">
                <a:solidFill>
                  <a:srgbClr val="4078F2"/>
                </a:solidFill>
                <a:latin typeface="Times New Roman"/>
                <a:ea typeface="quote-cjk-patch"/>
                <a:cs typeface="quote-cjk-patch"/>
              </a:rPr>
              <a:t>=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{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'milk'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: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'1'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,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'hair'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: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'1'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,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'eggs'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: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50A14F"/>
                </a:solidFill>
                <a:latin typeface="Times New Roman"/>
                <a:ea typeface="quote-cjk-patch"/>
                <a:cs typeface="quote-cjk-patch"/>
              </a:rPr>
              <a:t>'0'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}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dirty="0">
                <a:solidFill>
                  <a:srgbClr val="383A42"/>
                </a:solidFill>
                <a:latin typeface="Times New Roman"/>
                <a:ea typeface="quote-cjk-patch"/>
                <a:cs typeface="quote-cjk-patch"/>
              </a:rPr>
              <a:t>)</a:t>
            </a:r>
          </a:p>
          <a:p>
            <a:pPr marL="228600" indent="-228600">
              <a:buFont typeface=""/>
              <a:buChar char="•"/>
            </a:pP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Находит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argmax P(class |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признаки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) –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самый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вероятный</a:t>
            </a:r>
            <a:r>
              <a:rPr lang="en-US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класс</a:t>
            </a:r>
            <a:endParaRPr lang="en-US">
              <a:solidFill>
                <a:srgbClr val="0F1115"/>
              </a:solidFill>
              <a:latin typeface="Times New Roman"/>
              <a:ea typeface="quote-cjk-patch"/>
              <a:cs typeface="quote-cjk-patch"/>
            </a:endParaRPr>
          </a:p>
          <a:p>
            <a:pPr marL="228600" indent="-228600">
              <a:buFont typeface=""/>
              <a:buChar char="•"/>
            </a:pPr>
            <a:endParaRPr lang="en-US">
              <a:solidFill>
                <a:srgbClr val="0F1115"/>
              </a:solidFill>
              <a:latin typeface="quote-cjk-patch"/>
              <a:ea typeface="quote-cjk-patch"/>
              <a:cs typeface="quote-cjk-patch"/>
            </a:endParaRPr>
          </a:p>
          <a:p>
            <a:pPr algn="ctr"/>
            <a:endParaRPr lang="ru-RU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49070A56-5B2A-7A06-C71F-E96A214EE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031534"/>
              </p:ext>
            </p:extLst>
          </p:nvPr>
        </p:nvGraphicFramePr>
        <p:xfrm>
          <a:off x="5668027" y="1711890"/>
          <a:ext cx="5873478" cy="452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57826">
                  <a:extLst>
                    <a:ext uri="{9D8B030D-6E8A-4147-A177-3AD203B41FA5}">
                      <a16:colId xmlns:a16="http://schemas.microsoft.com/office/drawing/2014/main" val="2014433116"/>
                    </a:ext>
                  </a:extLst>
                </a:gridCol>
                <a:gridCol w="1957826">
                  <a:extLst>
                    <a:ext uri="{9D8B030D-6E8A-4147-A177-3AD203B41FA5}">
                      <a16:colId xmlns:a16="http://schemas.microsoft.com/office/drawing/2014/main" val="4233212999"/>
                    </a:ext>
                  </a:extLst>
                </a:gridCol>
                <a:gridCol w="1957826">
                  <a:extLst>
                    <a:ext uri="{9D8B030D-6E8A-4147-A177-3AD203B41FA5}">
                      <a16:colId xmlns:a16="http://schemas.microsoft.com/office/drawing/2014/main" val="1683771144"/>
                    </a:ext>
                  </a:extLst>
                </a:gridCol>
              </a:tblGrid>
              <a:tr h="6282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Запрос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af-ZA" b="0" dirty="0" err="1">
                          <a:effectLst/>
                        </a:rPr>
                        <a:t>Evidence</a:t>
                      </a:r>
                      <a:r>
                        <a:rPr lang="af-ZA" b="0" dirty="0">
                          <a:effectLst/>
                        </a:rPr>
                        <a:t> (</a:t>
                      </a:r>
                      <a:r>
                        <a:rPr lang="ru-RU" b="0" dirty="0">
                          <a:effectLst/>
                        </a:rPr>
                        <a:t>признаки)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Логическая интерпретация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441993"/>
                  </a:ext>
                </a:extLst>
              </a:tr>
              <a:tr h="62821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af-ZA" dirty="0" err="1">
                          <a:effectLst/>
                          <a:latin typeface="Menlo"/>
                        </a:rPr>
                        <a:t>milk</a:t>
                      </a:r>
                      <a:r>
                        <a:rPr lang="af-ZA" dirty="0">
                          <a:effectLst/>
                          <a:latin typeface="Menlo"/>
                        </a:rPr>
                        <a:t>=1</a:t>
                      </a:r>
                      <a:endParaRPr lang="af-ZA" dirty="0">
                        <a:effectLst/>
                      </a:endParaRP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"Если животное даёт молоко"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696213"/>
                  </a:ext>
                </a:extLst>
              </a:tr>
              <a:tr h="85070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2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af-ZA" dirty="0" err="1">
                          <a:effectLst/>
                          <a:latin typeface="Menlo"/>
                        </a:rPr>
                        <a:t>feathers</a:t>
                      </a:r>
                      <a:r>
                        <a:rPr lang="af-ZA" dirty="0">
                          <a:effectLst/>
                          <a:latin typeface="Menlo"/>
                        </a:rPr>
                        <a:t>=1</a:t>
                      </a:r>
                      <a:endParaRPr lang="af-ZA" dirty="0">
                        <a:effectLst/>
                      </a:endParaRP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"Если у животного есть перья"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125782"/>
                  </a:ext>
                </a:extLst>
              </a:tr>
              <a:tr h="62821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3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af-ZA" dirty="0" err="1">
                          <a:effectLst/>
                          <a:latin typeface="Menlo"/>
                        </a:rPr>
                        <a:t>breathes</a:t>
                      </a:r>
                      <a:r>
                        <a:rPr lang="af-ZA" dirty="0">
                          <a:effectLst/>
                          <a:latin typeface="Menlo"/>
                        </a:rPr>
                        <a:t>=0</a:t>
                      </a:r>
                      <a:endParaRPr lang="af-ZA" dirty="0">
                        <a:effectLst/>
                      </a:endParaRP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"Если не дышит воздухом"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993007"/>
                  </a:ext>
                </a:extLst>
              </a:tr>
              <a:tr h="62821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4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af-ZA" dirty="0" err="1">
                          <a:effectLst/>
                          <a:latin typeface="Menlo"/>
                        </a:rPr>
                        <a:t>aquatic</a:t>
                      </a:r>
                      <a:r>
                        <a:rPr lang="af-ZA" dirty="0">
                          <a:effectLst/>
                          <a:latin typeface="Menlo"/>
                        </a:rPr>
                        <a:t>=1, </a:t>
                      </a:r>
                      <a:r>
                        <a:rPr lang="af-ZA" dirty="0" err="1">
                          <a:effectLst/>
                          <a:latin typeface="Menlo"/>
                        </a:rPr>
                        <a:t>fins</a:t>
                      </a:r>
                      <a:r>
                        <a:rPr lang="af-ZA" dirty="0">
                          <a:effectLst/>
                          <a:latin typeface="Menlo"/>
                        </a:rPr>
                        <a:t>=1, </a:t>
                      </a:r>
                      <a:r>
                        <a:rPr lang="af-ZA" dirty="0" err="1">
                          <a:effectLst/>
                          <a:latin typeface="Menlo"/>
                        </a:rPr>
                        <a:t>hair</a:t>
                      </a:r>
                      <a:r>
                        <a:rPr lang="af-ZA" dirty="0">
                          <a:effectLst/>
                          <a:latin typeface="Menlo"/>
                        </a:rPr>
                        <a:t>=0</a:t>
                      </a:r>
                      <a:endParaRPr lang="af-ZA" dirty="0">
                        <a:effectLst/>
                      </a:endParaRP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"Идентификация рыб"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536346"/>
                  </a:ext>
                </a:extLst>
              </a:tr>
              <a:tr h="85070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dirty="0">
                          <a:effectLst/>
                        </a:rPr>
                        <a:t>5 (MAP)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af-ZA" dirty="0" err="1">
                          <a:effectLst/>
                          <a:latin typeface="Menlo"/>
                        </a:rPr>
                        <a:t>milk</a:t>
                      </a:r>
                      <a:r>
                        <a:rPr lang="af-ZA" dirty="0">
                          <a:effectLst/>
                          <a:latin typeface="Menlo"/>
                        </a:rPr>
                        <a:t>=1, </a:t>
                      </a:r>
                      <a:r>
                        <a:rPr lang="af-ZA" dirty="0" err="1">
                          <a:effectLst/>
                          <a:latin typeface="Menlo"/>
                        </a:rPr>
                        <a:t>hair</a:t>
                      </a:r>
                      <a:r>
                        <a:rPr lang="af-ZA" dirty="0">
                          <a:effectLst/>
                          <a:latin typeface="Menlo"/>
                        </a:rPr>
                        <a:t>=1, </a:t>
                      </a:r>
                      <a:r>
                        <a:rPr lang="af-ZA" dirty="0" err="1">
                          <a:effectLst/>
                          <a:latin typeface="Menlo"/>
                        </a:rPr>
                        <a:t>eggs</a:t>
                      </a:r>
                      <a:r>
                        <a:rPr lang="af-ZA" dirty="0">
                          <a:effectLst/>
                          <a:latin typeface="Menlo"/>
                        </a:rPr>
                        <a:t>=0</a:t>
                      </a:r>
                      <a:endParaRPr lang="af-ZA" dirty="0">
                        <a:effectLst/>
                      </a:endParaRP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"Наиболее вероятное животное"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606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0583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6CD4A-28E1-3DD0-1858-3F57CA15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F8DA3178-4171-630F-C86D-C4722060F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6FDCF1E9-1BF2-72F8-2047-967636285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7CC6ED07-9850-643D-D368-F93D54629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60BB69-2045-04A8-3B26-E3BDC4C2B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AA9DDB0C-585F-1AED-4DAD-8C8696C9BCFD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A7FA138-1273-44BF-CDDA-2ECD80DD0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357163"/>
              </p:ext>
            </p:extLst>
          </p:nvPr>
        </p:nvGraphicFramePr>
        <p:xfrm>
          <a:off x="2268071" y="1852705"/>
          <a:ext cx="7162800" cy="3175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30447857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69727732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279948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Модель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Конфигурация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af-ZA" b="0" dirty="0" err="1">
                          <a:effectLst/>
                        </a:rPr>
                        <a:t>Accuracy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23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1. Автоматическая структура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b="0" err="1">
                          <a:effectLst/>
                        </a:rPr>
                        <a:t>HillClimbSearch</a:t>
                      </a:r>
                      <a:r>
                        <a:rPr lang="af-ZA" b="0" dirty="0">
                          <a:effectLst/>
                        </a:rPr>
                        <a:t> + MLE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0.9355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65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2. Наивная структура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Все признаки → класс + </a:t>
                      </a:r>
                      <a:r>
                        <a:rPr lang="af-ZA" b="0" err="1">
                          <a:effectLst/>
                        </a:rPr>
                        <a:t>BayesianEstimator</a:t>
                      </a:r>
                      <a:r>
                        <a:rPr lang="af-ZA" b="0" dirty="0">
                          <a:effectLst/>
                        </a:rPr>
                        <a:t> (</a:t>
                      </a:r>
                      <a:r>
                        <a:rPr lang="af-ZA" b="0" err="1">
                          <a:effectLst/>
                        </a:rPr>
                        <a:t>BDeu</a:t>
                      </a:r>
                      <a:r>
                        <a:rPr lang="af-ZA" b="0" dirty="0">
                          <a:effectLst/>
                        </a:rPr>
                        <a:t>)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0.6129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25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b="0" dirty="0">
                          <a:effectLst/>
                        </a:rPr>
                        <a:t>3. </a:t>
                      </a:r>
                      <a:r>
                        <a:rPr lang="af-ZA" b="0" err="1">
                          <a:effectLst/>
                        </a:rPr>
                        <a:t>CategoricalNB</a:t>
                      </a:r>
                      <a:r>
                        <a:rPr lang="af-ZA" b="0" dirty="0">
                          <a:effectLst/>
                        </a:rPr>
                        <a:t> (</a:t>
                      </a:r>
                      <a:r>
                        <a:rPr lang="af-ZA" b="0" err="1">
                          <a:effectLst/>
                        </a:rPr>
                        <a:t>scikit-learn</a:t>
                      </a:r>
                      <a:r>
                        <a:rPr lang="af-ZA" b="0" dirty="0">
                          <a:effectLst/>
                        </a:rPr>
                        <a:t>)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Наивный Байес + </a:t>
                      </a:r>
                      <a:r>
                        <a:rPr lang="af-ZA" b="0" dirty="0">
                          <a:effectLst/>
                        </a:rPr>
                        <a:t>Laplace </a:t>
                      </a:r>
                      <a:r>
                        <a:rPr lang="ru-RU" b="0" dirty="0">
                          <a:effectLst/>
                        </a:rPr>
                        <a:t>сглаживание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0.9677 ✅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6374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F3B672-DDE2-6385-0B50-8B9CE1037AE7}"/>
              </a:ext>
            </a:extLst>
          </p:cNvPr>
          <p:cNvSpPr txBox="1"/>
          <p:nvPr/>
        </p:nvSpPr>
        <p:spPr>
          <a:xfrm>
            <a:off x="2689411" y="5322795"/>
            <a:ext cx="63089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Лучшая</a:t>
            </a:r>
            <a:r>
              <a:rPr lang="en-US" sz="2400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модель</a:t>
            </a:r>
            <a:r>
              <a:rPr lang="en-US" sz="2400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: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CategoricalNB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из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scikit-learn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AA54E-182E-81C4-4A36-6F3F0FD9F442}"/>
              </a:ext>
            </a:extLst>
          </p:cNvPr>
          <p:cNvSpPr txBox="1"/>
          <p:nvPr/>
        </p:nvSpPr>
        <p:spPr>
          <a:xfrm>
            <a:off x="481853" y="33618"/>
            <a:ext cx="12057528" cy="9464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00"/>
              </a:lnSpc>
            </a:pP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Результаты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сравнения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моделей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 и </a:t>
            </a: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важность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сглаживания</a:t>
            </a:r>
            <a:r>
              <a:rPr lang="en-US" sz="2800" dirty="0">
                <a:latin typeface="Times New Roman"/>
                <a:ea typeface="Segoe UI"/>
                <a:cs typeface="Segoe UI"/>
              </a:rPr>
              <a:t>​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Accuracy</a:t>
            </a:r>
            <a:endParaRPr lang="en-US" sz="2800" b="1" dirty="0">
              <a:solidFill>
                <a:srgbClr val="0F1115"/>
              </a:solidFill>
              <a:latin typeface="Times New Roman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en-US" sz="2800" b="1" dirty="0">
              <a:solidFill>
                <a:srgbClr val="0F1115"/>
              </a:solidFill>
              <a:latin typeface="Times New Roman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моделей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на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тестовой</a:t>
            </a:r>
            <a:r>
              <a:rPr lang="en-US" sz="2800" b="1" baseline="0" dirty="0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800" b="1" baseline="0" dirty="0" err="1">
                <a:solidFill>
                  <a:srgbClr val="0F1115"/>
                </a:solidFill>
                <a:latin typeface="Times New Roman"/>
                <a:ea typeface="Segoe UI"/>
                <a:cs typeface="Segoe UI"/>
              </a:rPr>
              <a:t>выборке</a:t>
            </a:r>
            <a:endParaRPr lang="en-US" sz="2800" b="1" baseline="0" dirty="0">
              <a:solidFill>
                <a:srgbClr val="0F1115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9964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36CA3-B3C8-8576-AC3A-7DD0EC86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EF3892EE-65B4-2E0B-0B5C-7F5524234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401CC8CC-9F4E-9F51-9EDD-45D5BBDD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91946DA-C8A2-B908-FAB2-08B603E48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47F735-D778-41E9-C8C6-B70DEBB2D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FE6D0888-DDE0-60B0-FAFB-D9949961DCD8}"/>
              </a:ext>
            </a:extLst>
          </p:cNvPr>
          <p:cNvCxnSpPr/>
          <p:nvPr/>
        </p:nvCxnSpPr>
        <p:spPr>
          <a:xfrm flipV="1">
            <a:off x="487235" y="870850"/>
            <a:ext cx="6952866" cy="282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6C511AD-9B8C-E959-5F4A-24C4A01CC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818516"/>
              </p:ext>
            </p:extLst>
          </p:nvPr>
        </p:nvGraphicFramePr>
        <p:xfrm>
          <a:off x="2223247" y="1550520"/>
          <a:ext cx="7162800" cy="28829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595281938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46058008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128407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Метрика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af-ZA" b="0" dirty="0" err="1">
                          <a:effectLst/>
                        </a:rPr>
                        <a:t>Majority</a:t>
                      </a:r>
                      <a:r>
                        <a:rPr lang="af-ZA" b="0" dirty="0">
                          <a:effectLst/>
                        </a:rPr>
                        <a:t> </a:t>
                      </a:r>
                      <a:r>
                        <a:rPr lang="af-ZA" b="0" dirty="0" err="1">
                          <a:effectLst/>
                        </a:rPr>
                        <a:t>Class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Лучшая модель (</a:t>
                      </a:r>
                      <a:r>
                        <a:rPr lang="af-ZA" b="0" dirty="0" err="1">
                          <a:effectLst/>
                        </a:rPr>
                        <a:t>CategoricalNB</a:t>
                      </a:r>
                      <a:r>
                        <a:rPr lang="af-ZA" b="0" dirty="0">
                          <a:effectLst/>
                        </a:rPr>
                        <a:t>)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517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b="1" dirty="0" err="1">
                          <a:effectLst/>
                        </a:rPr>
                        <a:t>Accuracy</a:t>
                      </a:r>
                      <a:endParaRPr lang="af-ZA" dirty="0" err="1">
                        <a:effectLst/>
                      </a:endParaRP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0.2258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</a:rPr>
                        <a:t>0.9677</a:t>
                      </a:r>
                      <a:r>
                        <a:rPr lang="ru-RU" dirty="0">
                          <a:effectLst/>
                        </a:rPr>
                        <a:t> (×4.3 лучше)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7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b="1" dirty="0" err="1">
                          <a:effectLst/>
                        </a:rPr>
                        <a:t>Precision</a:t>
                      </a:r>
                      <a:r>
                        <a:rPr lang="af-ZA" b="1" dirty="0">
                          <a:effectLst/>
                        </a:rPr>
                        <a:t> (</a:t>
                      </a:r>
                      <a:r>
                        <a:rPr lang="ru-RU" b="1" dirty="0">
                          <a:effectLst/>
                        </a:rPr>
                        <a:t>средняя)</a:t>
                      </a:r>
                      <a:endParaRPr lang="ru-RU" dirty="0">
                        <a:effectLst/>
                      </a:endParaRP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0.051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0.89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406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af-ZA" b="1" dirty="0" err="1">
                          <a:effectLst/>
                        </a:rPr>
                        <a:t>Recall</a:t>
                      </a:r>
                      <a:r>
                        <a:rPr lang="af-ZA" b="1" dirty="0">
                          <a:effectLst/>
                        </a:rPr>
                        <a:t> (</a:t>
                      </a:r>
                      <a:r>
                        <a:rPr lang="ru-RU" b="1" dirty="0">
                          <a:effectLst/>
                        </a:rPr>
                        <a:t>средняя)</a:t>
                      </a:r>
                      <a:endParaRPr lang="ru-RU" dirty="0">
                        <a:effectLst/>
                      </a:endParaRP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0.226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0.91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801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</a:rPr>
                        <a:t>Интерпретируемость</a:t>
                      </a:r>
                      <a:endParaRPr lang="ru-RU" dirty="0">
                        <a:effectLst/>
                      </a:endParaRP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Нулевая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dirty="0">
                          <a:effectLst/>
                        </a:rPr>
                        <a:t>Высокая (вероятностные предсказания)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5044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278E58-7373-92E3-8464-F7E6FB463533}"/>
              </a:ext>
            </a:extLst>
          </p:cNvPr>
          <p:cNvSpPr txBox="1"/>
          <p:nvPr/>
        </p:nvSpPr>
        <p:spPr>
          <a:xfrm>
            <a:off x="481852" y="5076264"/>
            <a:ext cx="1192305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Baseline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предсказывает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всегда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самый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частый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класс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 →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неудачная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стратегия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для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многоклассовой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</a:t>
            </a:r>
            <a:r>
              <a:rPr lang="en-US" sz="2400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задачи</a:t>
            </a:r>
            <a:r>
              <a:rPr lang="en-US" sz="2400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.</a:t>
            </a:r>
            <a:endParaRPr lang="en-US" sz="2400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14267-5350-5E0A-1CF0-471ABDB76693}"/>
              </a:ext>
            </a:extLst>
          </p:cNvPr>
          <p:cNvSpPr txBox="1"/>
          <p:nvPr/>
        </p:nvSpPr>
        <p:spPr>
          <a:xfrm>
            <a:off x="481853" y="168088"/>
            <a:ext cx="760879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Сравнение</a:t>
            </a:r>
            <a:r>
              <a:rPr lang="en-US" sz="3200" b="1" dirty="0">
                <a:solidFill>
                  <a:srgbClr val="0F1115"/>
                </a:solidFill>
                <a:latin typeface="Times New Roman"/>
                <a:ea typeface="quote-cjk-patch"/>
                <a:cs typeface="quote-cjk-patch"/>
              </a:rPr>
              <a:t> с Baseline (Majority Class)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8363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CB32F-A1EE-DC84-BB32-A7F3D743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арисовка, векторная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D3AFE1-5CB9-250E-132A-B8D45843F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b="11067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6A5DA6-E961-262D-0ADC-63AA0BE7F53E}"/>
              </a:ext>
            </a:extLst>
          </p:cNvPr>
          <p:cNvSpPr txBox="1"/>
          <p:nvPr/>
        </p:nvSpPr>
        <p:spPr>
          <a:xfrm>
            <a:off x="898737" y="1562101"/>
            <a:ext cx="4359744" cy="273853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 !</a:t>
            </a:r>
          </a:p>
        </p:txBody>
      </p:sp>
      <p:cxnSp>
        <p:nvCxnSpPr>
          <p:cNvPr id="34" name="Straight Connector 28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1940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DashVTI</vt:lpstr>
      <vt:lpstr>Лабораторная работа: Bayesian Networks на примере датасета [Zoo Animal Classification]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334</cp:revision>
  <dcterms:created xsi:type="dcterms:W3CDTF">2025-12-02T07:09:59Z</dcterms:created>
  <dcterms:modified xsi:type="dcterms:W3CDTF">2025-12-02T10:21:06Z</dcterms:modified>
</cp:coreProperties>
</file>